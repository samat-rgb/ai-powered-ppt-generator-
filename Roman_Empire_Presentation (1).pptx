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2514600"/>
            <a:ext cx="8229600" cy="1371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Rise and Fall: A Roman Empire Saga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57600"/>
            <a:ext cx="8229600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t>From Humble Beginnings to Imperial Grandeur and Ruin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0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Helvetica"/>
              </a:defRPr>
            </a:pPr>
            <a:r>
              <a:t>From Republic to Empire: The Seeds of Power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097280"/>
            <a:ext cx="3657600" cy="53035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1097280"/>
            <a:ext cx="4754880" cy="5303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50000"/>
              </a:lnSpc>
              <a:defRPr sz="1600">
                <a:latin typeface="Helvetica"/>
              </a:defRPr>
            </a:pPr>
            <a:r>
              <a:t>•  The Roman Republic, initially a collection of independent city-states, gradually</a:t>
            </a:r>
          </a:p>
          <a:p>
            <a:pPr>
              <a:lnSpc>
                <a:spcPct val="150000"/>
              </a:lnSpc>
              <a:defRPr sz="1600">
                <a:latin typeface="Helvetica"/>
              </a:defRPr>
            </a:pPr>
            <a:r>
              <a:t>consolidated power through military conquest and shrewd political maneuvering.  Ambition,</a:t>
            </a:r>
          </a:p>
          <a:p>
            <a:pPr>
              <a:lnSpc>
                <a:spcPct val="150000"/>
              </a:lnSpc>
              <a:defRPr sz="1600">
                <a:latin typeface="Helvetica"/>
              </a:defRPr>
            </a:pPr>
            <a:r>
              <a:t>internal strife, and the rise of powerful generals like Julius Caesar ultimately led to</a:t>
            </a:r>
          </a:p>
          <a:p>
            <a:pPr>
              <a:lnSpc>
                <a:spcPct val="150000"/>
              </a:lnSpc>
              <a:defRPr sz="1600">
                <a:latin typeface="Helvetica"/>
              </a:defRPr>
            </a:pPr>
            <a:r>
              <a:t>the end of the Republic and the establishment of the Empire under Augustus.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0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Helvetica"/>
              </a:defRPr>
            </a:pPr>
            <a:r>
              <a:t>Pax Romana: An Era of Peace and Prosperity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097280"/>
            <a:ext cx="3657600" cy="53035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1097280"/>
            <a:ext cx="4754880" cy="5303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50000"/>
              </a:lnSpc>
              <a:defRPr sz="1600">
                <a:latin typeface="Helvetica"/>
              </a:defRPr>
            </a:pPr>
            <a:r>
              <a:t>• The Pax Romana, or "Roman Peace," a period of relative stability and prosperity lasting</a:t>
            </a:r>
          </a:p>
          <a:p>
            <a:pPr>
              <a:lnSpc>
                <a:spcPct val="150000"/>
              </a:lnSpc>
              <a:defRPr sz="1600">
                <a:latin typeface="Helvetica"/>
              </a:defRPr>
            </a:pPr>
            <a:r>
              <a:t>for two centuries, witnessed significant advancements in infrastructure, law, and</a:t>
            </a:r>
          </a:p>
          <a:p>
            <a:pPr>
              <a:lnSpc>
                <a:spcPct val="150000"/>
              </a:lnSpc>
              <a:defRPr sz="1600">
                <a:latin typeface="Helvetica"/>
              </a:defRPr>
            </a:pPr>
            <a:r>
              <a:t>culture.  Extensive road networks, aqueducts, and public buildings testified to the</a:t>
            </a:r>
          </a:p>
          <a:p>
            <a:pPr>
              <a:lnSpc>
                <a:spcPct val="150000"/>
              </a:lnSpc>
              <a:defRPr sz="1600">
                <a:latin typeface="Helvetica"/>
              </a:defRPr>
            </a:pPr>
            <a:r>
              <a:t>Empire's engineering prowess and organized administration.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0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Helvetica"/>
              </a:defRPr>
            </a:pPr>
            <a:r>
              <a:t>The Empire's Expansion and Challenges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097280"/>
            <a:ext cx="3657600" cy="53035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1097280"/>
            <a:ext cx="4754880" cy="5303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50000"/>
              </a:lnSpc>
              <a:defRPr sz="1600">
                <a:latin typeface="Helvetica"/>
              </a:defRPr>
            </a:pPr>
            <a:r>
              <a:t>•  The Empire's vast territorial expansion brought immense wealth and resources but also</a:t>
            </a:r>
          </a:p>
          <a:p>
            <a:pPr>
              <a:lnSpc>
                <a:spcPct val="150000"/>
              </a:lnSpc>
              <a:defRPr sz="1600">
                <a:latin typeface="Helvetica"/>
              </a:defRPr>
            </a:pPr>
            <a:r>
              <a:t>presented significant challenges in governance and defense.  Internal power struggles,</a:t>
            </a:r>
          </a:p>
          <a:p>
            <a:pPr>
              <a:lnSpc>
                <a:spcPct val="150000"/>
              </a:lnSpc>
              <a:defRPr sz="1600">
                <a:latin typeface="Helvetica"/>
              </a:defRPr>
            </a:pPr>
            <a:r>
              <a:t>economic instability, and external threats from barbarian tribes gradually weakened the</a:t>
            </a:r>
          </a:p>
          <a:p>
            <a:pPr>
              <a:lnSpc>
                <a:spcPct val="150000"/>
              </a:lnSpc>
              <a:defRPr sz="1600">
                <a:latin typeface="Helvetica"/>
              </a:defRPr>
            </a:pPr>
            <a:r>
              <a:t>Empire's foundations.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0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Helvetica"/>
              </a:defRPr>
            </a:pPr>
            <a:r>
              <a:t>Decline and Division: The Fall of Rome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097280"/>
            <a:ext cx="3657600" cy="53035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1097280"/>
            <a:ext cx="4754880" cy="5303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50000"/>
              </a:lnSpc>
              <a:defRPr sz="1600">
                <a:latin typeface="Helvetica"/>
              </a:defRPr>
            </a:pPr>
            <a:r>
              <a:t>• Overextension, economic woes, political corruption, and the relentless pressure from</a:t>
            </a:r>
          </a:p>
          <a:p>
            <a:pPr>
              <a:lnSpc>
                <a:spcPct val="150000"/>
              </a:lnSpc>
              <a:defRPr sz="1600">
                <a:latin typeface="Helvetica"/>
              </a:defRPr>
            </a:pPr>
            <a:r>
              <a:t>barbarian invasions contributed to the Empire's eventual decline and division into the</a:t>
            </a:r>
          </a:p>
          <a:p>
            <a:pPr>
              <a:lnSpc>
                <a:spcPct val="150000"/>
              </a:lnSpc>
              <a:defRPr sz="1600">
                <a:latin typeface="Helvetica"/>
              </a:defRPr>
            </a:pPr>
            <a:r>
              <a:t>Western and Eastern Roman Empires.  The Western Roman Empire ultimately fell in 476 CE,</a:t>
            </a:r>
          </a:p>
          <a:p>
            <a:pPr>
              <a:lnSpc>
                <a:spcPct val="150000"/>
              </a:lnSpc>
              <a:defRPr sz="1600">
                <a:latin typeface="Helvetica"/>
              </a:defRPr>
            </a:pPr>
            <a:r>
              <a:t>marking a pivotal moment in European history.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0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Helvetica"/>
              </a:defRPr>
            </a:pPr>
            <a:r>
              <a:t>Legacy of an Empire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097280"/>
            <a:ext cx="3657600" cy="53035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1097280"/>
            <a:ext cx="4754880" cy="5303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50000"/>
              </a:lnSpc>
              <a:defRPr sz="1600">
                <a:latin typeface="Helvetica"/>
              </a:defRPr>
            </a:pPr>
            <a:r>
              <a:t>The Roman Empire's legacy extends far beyond its geographical boundaries and temporal</a:t>
            </a:r>
          </a:p>
          <a:p>
            <a:pPr>
              <a:lnSpc>
                <a:spcPct val="150000"/>
              </a:lnSpc>
              <a:defRPr sz="1600">
                <a:latin typeface="Helvetica"/>
              </a:defRPr>
            </a:pPr>
            <a:r>
              <a:t>lifespan. Its contributions to law, language, architecture, and political thought</a:t>
            </a:r>
          </a:p>
          <a:p>
            <a:pPr>
              <a:lnSpc>
                <a:spcPct val="150000"/>
              </a:lnSpc>
              <a:defRPr sz="1600">
                <a:latin typeface="Helvetica"/>
              </a:defRPr>
            </a:pPr>
            <a:r>
              <a:t>continue to shape the world we live in today.  Further exploration into this fascinating</a:t>
            </a:r>
          </a:p>
          <a:p>
            <a:pPr>
              <a:lnSpc>
                <a:spcPct val="150000"/>
              </a:lnSpc>
              <a:defRPr sz="1600">
                <a:latin typeface="Helvetica"/>
              </a:defRPr>
            </a:pPr>
            <a:r>
              <a:t>period is strongly encouraged.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